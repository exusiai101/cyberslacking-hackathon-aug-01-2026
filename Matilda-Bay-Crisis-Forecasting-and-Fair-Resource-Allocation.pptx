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873597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Matilda Bay: Crisis Forecasting &amp; Fair Resource Allocation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304308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Team Cyberslacking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1601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Four Pods. Four Situations.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042517"/>
            <a:ext cx="4004965" cy="821606"/>
          </a:xfrm>
          <a:prstGeom prst="roundRect">
            <a:avLst>
              <a:gd name="adj" fmla="val 2588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2184276"/>
            <a:ext cx="372144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🌊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Pod 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495550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Water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2042517"/>
            <a:ext cx="4005039" cy="821606"/>
          </a:xfrm>
          <a:prstGeom prst="roundRect">
            <a:avLst>
              <a:gd name="adj" fmla="val 2588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4784601" y="2184276"/>
            <a:ext cx="37215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💊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Pod 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4601" y="2495550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Medicine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005882"/>
            <a:ext cx="4004965" cy="821606"/>
          </a:xfrm>
          <a:prstGeom prst="roundRect">
            <a:avLst>
              <a:gd name="adj" fmla="val 258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37877" y="3147640"/>
            <a:ext cx="372144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🍞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Pod 3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7877" y="3458914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Food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3005882"/>
            <a:ext cx="4005039" cy="821606"/>
          </a:xfrm>
          <a:prstGeom prst="roundRect">
            <a:avLst>
              <a:gd name="adj" fmla="val 258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4784601" y="3147640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✓ Pod 4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4601" y="3454152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52131" y="1604590"/>
            <a:ext cx="1239664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37186" y="1647081"/>
            <a:ext cx="152675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CORE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876648"/>
            <a:ext cx="8151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Enough Resources.</a:t>
            </a:r>
            <a:endParaRPr lang="en-US" sz="38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Inefficient Distribution.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267519" y="331202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supply across all pods is </a:t>
            </a:r>
            <a:pPr algn="ct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collectively sufficient</a:t>
            </a:r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the shortage is entirely in how it's split and moved.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1872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No Transparency. No Trust.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2274317"/>
            <a:ext cx="4107135" cy="864096"/>
          </a:xfrm>
          <a:prstGeom prst="roundRect">
            <a:avLst>
              <a:gd name="adj" fmla="val 2461"/>
            </a:avLst>
          </a:prstGeom>
          <a:solidFill>
            <a:srgbClr val="2150FE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416076"/>
            <a:ext cx="382361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❓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Don't Know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784053"/>
            <a:ext cx="4280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Who's in need — and how urgently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416076"/>
            <a:ext cx="390294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Won't Share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784053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exchange, no disclosure — hoarding and tolling follow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7519" y="329788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Reframe: this is a </a:t>
            </a:r>
            <a:pPr algn="ct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trust and information problem</a:t>
            </a:r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not greed.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459706"/>
            <a:ext cx="1783779" cy="215354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502197"/>
            <a:ext cx="207086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SOLUTION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73176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Council-Controlled. Fair Ranking + Market Incentives.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387352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918892"/>
            <a:ext cx="259913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🏛️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Council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23016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Central authority sets guardrails and enforces fairness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387352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2433" y="2918892"/>
            <a:ext cx="259913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⚖️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Fair Ranking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323016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Priority determined by objective runway metrics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387352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8747" y="2918892"/>
            <a:ext cx="259913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Marketplace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8747" y="323016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Voluntary trade in Bay Credits — incentivises sharing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9139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 Stock Market, But for Resources.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1789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Pods list surplus, bid for need, priced in Bay Credits.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Council sets the guardrails.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504182"/>
            <a:ext cx="8151763" cy="1247924"/>
          </a:xfrm>
          <a:prstGeom prst="roundRect">
            <a:avLst>
              <a:gd name="adj" fmla="val 170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927300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3338512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29507" y="2504182"/>
            <a:ext cx="8860" cy="124792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327847" y="2504182"/>
            <a:ext cx="8860" cy="124792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526188" y="2504182"/>
            <a:ext cx="8860" cy="124792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1104" y="2508945"/>
            <a:ext cx="1628403" cy="418356"/>
          </a:xfrm>
          <a:custGeom>
            <a:avLst/>
            <a:gdLst/>
            <a:ahLst/>
            <a:cxnLst/>
            <a:rect l="l" t="t" r="r" b="b"/>
            <a:pathLst>
              <a:path w="1628403" h="418356">
                <a:moveTo>
                  <a:pt x="17721" y="0"/>
                </a:moveTo>
                <a:lnTo>
                  <a:pt x="1628403" y="0"/>
                </a:lnTo>
                <a:lnTo>
                  <a:pt x="1628403" y="418356"/>
                </a:lnTo>
                <a:lnTo>
                  <a:pt x="0" y="418356"/>
                </a:lnTo>
                <a:lnTo>
                  <a:pt x="0" y="17721"/>
                </a:lnTo>
                <a:arcTo hR="17721" wR="17721" stAng="10800000" swAng="5400000"/>
                <a:close/>
              </a:path>
            </a:pathLst>
          </a:custGeom>
          <a:solidFill>
            <a:srgbClr val="04318F"/>
          </a:solidFill>
          <a:ln/>
        </p:spPr>
      </p:sp>
      <p:sp>
        <p:nvSpPr>
          <p:cNvPr id="11" name="Text 9"/>
          <p:cNvSpPr/>
          <p:nvPr/>
        </p:nvSpPr>
        <p:spPr>
          <a:xfrm>
            <a:off x="642863" y="2598762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Side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29507" y="2508945"/>
            <a:ext cx="2198340" cy="418356"/>
          </a:xfrm>
          <a:prstGeom prst="rect">
            <a:avLst/>
          </a:prstGeom>
          <a:solidFill>
            <a:srgbClr val="04318F"/>
          </a:solidFill>
          <a:ln/>
        </p:spPr>
      </p:sp>
      <p:sp>
        <p:nvSpPr>
          <p:cNvPr id="13" name="Text 11"/>
          <p:cNvSpPr/>
          <p:nvPr/>
        </p:nvSpPr>
        <p:spPr>
          <a:xfrm>
            <a:off x="2273647" y="2598762"/>
            <a:ext cx="2367260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🌊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Water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27847" y="2508945"/>
            <a:ext cx="2198340" cy="418356"/>
          </a:xfrm>
          <a:prstGeom prst="rect">
            <a:avLst/>
          </a:prstGeom>
          <a:solidFill>
            <a:srgbClr val="04318F"/>
          </a:solidFill>
          <a:ln/>
        </p:spPr>
      </p:sp>
      <p:sp>
        <p:nvSpPr>
          <p:cNvPr id="15" name="Text 13"/>
          <p:cNvSpPr/>
          <p:nvPr/>
        </p:nvSpPr>
        <p:spPr>
          <a:xfrm>
            <a:off x="4471988" y="2598762"/>
            <a:ext cx="2367260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💊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Medicine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26188" y="2508945"/>
            <a:ext cx="2116931" cy="418356"/>
          </a:xfrm>
          <a:custGeom>
            <a:avLst/>
            <a:gdLst/>
            <a:ahLst/>
            <a:cxnLst/>
            <a:rect l="l" t="t" r="r" b="b"/>
            <a:pathLst>
              <a:path w="2116931" h="418356">
                <a:moveTo>
                  <a:pt x="0" y="0"/>
                </a:moveTo>
                <a:lnTo>
                  <a:pt x="2099210" y="0"/>
                </a:lnTo>
                <a:arcTo hR="17721" wR="17721" stAng="16200000" swAng="5400000"/>
                <a:lnTo>
                  <a:pt x="2116931" y="418356"/>
                </a:lnTo>
                <a:lnTo>
                  <a:pt x="0" y="418356"/>
                </a:lnTo>
                <a:lnTo>
                  <a:pt x="0" y="0"/>
                </a:lnTo>
                <a:close/>
              </a:path>
            </a:pathLst>
          </a:custGeom>
          <a:solidFill>
            <a:srgbClr val="04318F"/>
          </a:solidFill>
          <a:ln/>
        </p:spPr>
      </p:sp>
      <p:sp>
        <p:nvSpPr>
          <p:cNvPr id="17" name="Text 15"/>
          <p:cNvSpPr/>
          <p:nvPr/>
        </p:nvSpPr>
        <p:spPr>
          <a:xfrm>
            <a:off x="6670328" y="2598762"/>
            <a:ext cx="2288232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🍞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Food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863" y="3019499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Offers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73647" y="3019499"/>
            <a:ext cx="236726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Pod 1 lists surplus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71988" y="3019499"/>
            <a:ext cx="236726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Pod 2 lists surplus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0328" y="3019499"/>
            <a:ext cx="228823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Pod 3 lists surplus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2863" y="3430712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Bids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73647" y="3430712"/>
            <a:ext cx="236726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Pod 2, 3 bid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71988" y="3430712"/>
            <a:ext cx="236726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Pod 1, 3 bid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0328" y="3430712"/>
            <a:ext cx="228823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Pod 1, 2 bid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61678"/>
            <a:ext cx="1204838" cy="215354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204168"/>
            <a:ext cx="149192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PRIORITY FORMULA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3373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Priority by Runway Days.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89324"/>
            <a:ext cx="8151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55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Stock ÷ Consumption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496119" y="3187973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= Runway Days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67519" y="375493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Consumption scales with population. </a:t>
            </a:r>
            <a:pPr algn="ct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Shorter runway = higher priority.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529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Fair Ranking in Action.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37977"/>
            <a:ext cx="8151763" cy="3578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8952" y="3442260"/>
            <a:ext cx="1428936" cy="220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Measure Stock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878952" y="3725888"/>
            <a:ext cx="1428936" cy="29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Inventory and daily use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90964" y="3387301"/>
            <a:ext cx="1428935" cy="220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Rank by Urgency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890964" y="3670929"/>
            <a:ext cx="1428935" cy="29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Shorter runway = higher priority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96735" y="1213228"/>
            <a:ext cx="1428936" cy="220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Calculate Runway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896735" y="1496856"/>
            <a:ext cx="1428936" cy="29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Stock ÷ consumption per pod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4552057"/>
            <a:ext cx="44142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695602" y="4552057"/>
            <a:ext cx="44142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788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Demo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72939"/>
            <a:ext cx="3053135" cy="30531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97088" y="1717419"/>
            <a:ext cx="387653" cy="163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Pod 1</a:t>
            </a:r>
            <a:endParaRPr lang="en-US" sz="5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(Water)</a:t>
            </a:r>
            <a:endParaRPr lang="en-US" sz="500" dirty="0"/>
          </a:p>
        </p:txBody>
      </p:sp>
      <p:sp>
        <p:nvSpPr>
          <p:cNvPr id="5" name="Text 2"/>
          <p:cNvSpPr/>
          <p:nvPr/>
        </p:nvSpPr>
        <p:spPr>
          <a:xfrm>
            <a:off x="1824757" y="2845504"/>
            <a:ext cx="330406" cy="110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Council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818555" y="3837821"/>
            <a:ext cx="358696" cy="159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Pod 3</a:t>
            </a:r>
            <a:endParaRPr lang="en-US" sz="5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(Food)</a:t>
            </a:r>
            <a:endParaRPr lang="en-US" sz="500" dirty="0"/>
          </a:p>
        </p:txBody>
      </p:sp>
      <p:sp>
        <p:nvSpPr>
          <p:cNvPr id="7" name="Text 4"/>
          <p:cNvSpPr/>
          <p:nvPr/>
        </p:nvSpPr>
        <p:spPr>
          <a:xfrm>
            <a:off x="2852375" y="2790453"/>
            <a:ext cx="461882" cy="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Pod 2</a:t>
            </a:r>
            <a:endParaRPr lang="en-US" sz="4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(Medicine)</a:t>
            </a:r>
            <a:endParaRPr lang="en-US" sz="450" dirty="0"/>
          </a:p>
        </p:txBody>
      </p:sp>
      <p:sp>
        <p:nvSpPr>
          <p:cNvPr id="8" name="Text 5"/>
          <p:cNvSpPr/>
          <p:nvPr/>
        </p:nvSpPr>
        <p:spPr>
          <a:xfrm>
            <a:off x="2837968" y="3942248"/>
            <a:ext cx="548229" cy="21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spcAft>
                <a:spcPts val="200"/>
              </a:spcAft>
              <a:buNone/>
            </a:pPr>
            <a:r>
              <a:rPr lang="en-US" sz="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data flows</a:t>
            </a:r>
            <a:endParaRPr lang="en-US" sz="3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Trade signals between</a:t>
            </a:r>
            <a:endParaRPr lang="en-US" sz="3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Council and each pod</a:t>
            </a:r>
            <a:endParaRPr lang="en-US" sz="350" dirty="0"/>
          </a:p>
        </p:txBody>
      </p:sp>
      <p:sp>
        <p:nvSpPr>
          <p:cNvPr id="9" name="Text 6"/>
          <p:cNvSpPr/>
          <p:nvPr/>
        </p:nvSpPr>
        <p:spPr>
          <a:xfrm>
            <a:off x="715849" y="2792122"/>
            <a:ext cx="410981" cy="155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Pod 4</a:t>
            </a:r>
            <a:endParaRPr lang="en-US" sz="4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(Stable/None)</a:t>
            </a:r>
            <a:endParaRPr lang="en-US" sz="4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9892" y="1372939"/>
            <a:ext cx="4752677" cy="9164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36901" y="1533748"/>
            <a:ext cx="435486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Live Dashboard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136901" y="1901726"/>
            <a:ext cx="435486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Runway days by pod — updated in real time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9892" y="2431107"/>
            <a:ext cx="4752677" cy="91640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36901" y="2591916"/>
            <a:ext cx="435486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🚨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Silent-Pod Alerts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136901" y="2959894"/>
            <a:ext cx="435486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Auto-flag pods that go dark or stop reporting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99892" y="3489275"/>
            <a:ext cx="4752677" cy="91640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136901" y="3650084"/>
            <a:ext cx="435486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💱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Live Trades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136901" y="4018062"/>
            <a:ext cx="435486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Marketplace transactions visible to all pods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22846"/>
            <a:ext cx="704478" cy="215354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265337"/>
            <a:ext cx="99156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OUTCOME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9490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Impact.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2150492"/>
            <a:ext cx="8151763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150492"/>
            <a:ext cx="4075881" cy="1043657"/>
          </a:xfrm>
          <a:custGeom>
            <a:avLst/>
            <a:gdLst/>
            <a:ahLst/>
            <a:cxnLst/>
            <a:rect l="l" t="t" r="r" b="b"/>
            <a:pathLst>
              <a:path w="4075881" h="1043657">
                <a:moveTo>
                  <a:pt x="17721" y="0"/>
                </a:moveTo>
                <a:lnTo>
                  <a:pt x="4075881" y="0"/>
                </a:lnTo>
                <a:lnTo>
                  <a:pt x="4075881" y="1043657"/>
                </a:lnTo>
                <a:lnTo>
                  <a:pt x="17721" y="1043657"/>
                </a:lnTo>
                <a:arcTo hR="17721" wR="17721" stAng="5400000" swAng="5400000"/>
                <a:lnTo>
                  <a:pt x="0" y="17721"/>
                </a:lnTo>
                <a:arcTo hR="17721" wR="17721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37877" y="2292251"/>
            <a:ext cx="37923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✓ Pods 1, 2, 3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2598762"/>
            <a:ext cx="37923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Trade freely in the marketplace — crises resolved through transparent exchange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2150492"/>
            <a:ext cx="4075881" cy="1043657"/>
          </a:xfrm>
          <a:custGeom>
            <a:avLst/>
            <a:gdLst/>
            <a:ahLst/>
            <a:cxnLst/>
            <a:rect l="l" t="t" r="r" b="b"/>
            <a:pathLst>
              <a:path w="4075881" h="1043657">
                <a:moveTo>
                  <a:pt x="0" y="0"/>
                </a:moveTo>
                <a:lnTo>
                  <a:pt x="4058161" y="0"/>
                </a:lnTo>
                <a:arcTo hR="17721" wR="17721" stAng="16200000" swAng="5400000"/>
                <a:lnTo>
                  <a:pt x="4075881" y="1025936"/>
                </a:lnTo>
                <a:arcTo hR="17721" wR="17721" stAng="0" swAng="5400000"/>
                <a:lnTo>
                  <a:pt x="0" y="1043657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150492"/>
            <a:ext cx="19050" cy="1043657"/>
          </a:xfrm>
          <a:prstGeom prst="roundRect">
            <a:avLst>
              <a:gd name="adj" fmla="val 50000"/>
            </a:avLst>
          </a:prstGeom>
          <a:solidFill>
            <a:srgbClr val="D8D4D4"/>
          </a:solidFill>
          <a:ln/>
        </p:spPr>
      </p:sp>
      <p:sp>
        <p:nvSpPr>
          <p:cNvPr id="11" name="Text 9"/>
          <p:cNvSpPr/>
          <p:nvPr/>
        </p:nvSpPr>
        <p:spPr>
          <a:xfrm>
            <a:off x="4713759" y="2292251"/>
            <a:ext cx="379236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Pod 4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13759" y="2603525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Still protected — fair ranking applies,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 trading required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353619"/>
            <a:ext cx="8151763" cy="566961"/>
          </a:xfrm>
          <a:prstGeom prst="roundRect">
            <a:avLst>
              <a:gd name="adj" fmla="val 3751"/>
            </a:avLst>
          </a:prstGeom>
          <a:solidFill>
            <a:srgbClr val="CCD7F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554388"/>
            <a:ext cx="177180" cy="14175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56816" y="3530798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pod is seen. Every need is ranked. No pod left behind.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2026-08-01T08:38:04Z</dcterms:created>
  <dcterms:modified xsi:type="dcterms:W3CDTF">2026-08-01T08:38:04Z</dcterms:modified>
</cp:coreProperties>
</file>